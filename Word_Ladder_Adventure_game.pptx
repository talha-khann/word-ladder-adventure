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1" r:id="rId4"/>
  </p:sldMasterIdLst>
  <p:sldIdLst>
    <p:sldId id="26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6" r:id="rId13"/>
    <p:sldId id="264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94660"/>
  </p:normalViewPr>
  <p:slideViewPr>
    <p:cSldViewPr snapToGrid="0">
      <p:cViewPr>
        <p:scale>
          <a:sx n="76" d="100"/>
          <a:sy n="76" d="100"/>
        </p:scale>
        <p:origin x="-510" y="-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D338-AA53-4590-A7B7-A2ED4DEEDE3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6433-CF15-47C3-B0FD-B0DC9BD27DE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5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D338-AA53-4590-A7B7-A2ED4DEEDE3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6433-CF15-47C3-B0FD-B0DC9BD27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30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D338-AA53-4590-A7B7-A2ED4DEEDE3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6433-CF15-47C3-B0FD-B0DC9BD27DE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978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D338-AA53-4590-A7B7-A2ED4DEEDE3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6433-CF15-47C3-B0FD-B0DC9BD27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024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D338-AA53-4590-A7B7-A2ED4DEEDE3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6433-CF15-47C3-B0FD-B0DC9BD27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3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D338-AA53-4590-A7B7-A2ED4DEEDE3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6433-CF15-47C3-B0FD-B0DC9BD27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0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D338-AA53-4590-A7B7-A2ED4DEEDE3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6433-CF15-47C3-B0FD-B0DC9BD27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90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C52D338-AA53-4590-A7B7-A2ED4DEEDE3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A96433-CF15-47C3-B0FD-B0DC9BD27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7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D338-AA53-4590-A7B7-A2ED4DEEDE3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6433-CF15-47C3-B0FD-B0DC9BD27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0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D338-AA53-4590-A7B7-A2ED4DEEDE3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6433-CF15-47C3-B0FD-B0DC9BD27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61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D338-AA53-4590-A7B7-A2ED4DEEDE3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6433-CF15-47C3-B0FD-B0DC9BD27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04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C52D338-AA53-4590-A7B7-A2ED4DEEDE3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1A96433-CF15-47C3-B0FD-B0DC9BD27DE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94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f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f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Word Ladder Adventure Game using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Group Members: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err="1" smtClean="0"/>
              <a:t>Talha</a:t>
            </a:r>
            <a:r>
              <a:rPr lang="en-US" sz="2400" dirty="0" smtClean="0"/>
              <a:t> Khan (242210)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err="1" smtClean="0"/>
              <a:t>Ahsan</a:t>
            </a:r>
            <a:r>
              <a:rPr lang="en-US" sz="2400" dirty="0" smtClean="0"/>
              <a:t> Khan (242206)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Muhammad </a:t>
            </a:r>
            <a:r>
              <a:rPr lang="en-US" sz="2400" dirty="0" err="1" smtClean="0"/>
              <a:t>Rehan</a:t>
            </a:r>
            <a:r>
              <a:rPr lang="en-US" sz="2400" dirty="0" smtClean="0"/>
              <a:t> </a:t>
            </a:r>
            <a:r>
              <a:rPr lang="en-US" sz="2400" dirty="0" err="1" smtClean="0"/>
              <a:t>Shoukat</a:t>
            </a:r>
            <a:r>
              <a:rPr lang="en-US" sz="2400" dirty="0" smtClean="0"/>
              <a:t> (242212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sz="2400" b="1" dirty="0" smtClean="0"/>
              <a:t>Submitted To:</a:t>
            </a:r>
            <a:r>
              <a:rPr lang="en-US" sz="2400" dirty="0" smtClean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Aisha </a:t>
            </a:r>
            <a:r>
              <a:rPr lang="en-US" sz="2400" dirty="0" err="1" smtClean="0"/>
              <a:t>Sattar</a:t>
            </a:r>
            <a:r>
              <a:rPr lang="en-US" sz="2400" dirty="0" smtClean="0"/>
              <a:t> </a:t>
            </a:r>
            <a:r>
              <a:rPr lang="en-US" sz="2400" dirty="0" err="1" smtClean="0"/>
              <a:t>Choudhry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Course:</a:t>
            </a:r>
            <a:endParaRPr lang="en-US" sz="2400" dirty="0" smtClean="0"/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Introduction To Artificial Intelligence</a:t>
            </a:r>
            <a:endParaRPr lang="en-US" sz="2400" dirty="0"/>
          </a:p>
        </p:txBody>
      </p:sp>
      <p:pic>
        <p:nvPicPr>
          <p:cNvPr id="6" name="Google Shape;102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8482" y="2242160"/>
            <a:ext cx="4597053" cy="3344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4181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0948" y="523905"/>
            <a:ext cx="10058400" cy="796895"/>
          </a:xfrm>
        </p:spPr>
        <p:txBody>
          <a:bodyPr/>
          <a:lstStyle/>
          <a:p>
            <a:r>
              <a:rPr lang="en-US" b="1" dirty="0"/>
              <a:t>O</a:t>
            </a:r>
            <a:r>
              <a:rPr lang="en-US" b="1" dirty="0" smtClean="0"/>
              <a:t>utline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4" y="1879601"/>
            <a:ext cx="10353548" cy="436879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dirty="0"/>
              <a:t>Problem </a:t>
            </a:r>
            <a:r>
              <a:rPr lang="en-US" dirty="0" smtClean="0"/>
              <a:t>Statement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dirty="0"/>
              <a:t>Objectives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Problem Solution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Importance of Project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dirty="0" smtClean="0"/>
              <a:t>Methodology </a:t>
            </a:r>
            <a:r>
              <a:rPr lang="en-US" dirty="0"/>
              <a:t>Overview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dirty="0"/>
              <a:t>Future Work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024" y="2348368"/>
            <a:ext cx="3812938" cy="305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8543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0" y="533400"/>
            <a:ext cx="9886950" cy="927100"/>
          </a:xfrm>
        </p:spPr>
        <p:txBody>
          <a:bodyPr/>
          <a:lstStyle/>
          <a:p>
            <a:pPr algn="ctr"/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1100" y="1765300"/>
            <a:ext cx="10020300" cy="44958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Word Ladder Adventure Game is an </a:t>
            </a:r>
            <a:r>
              <a:rPr lang="en-US" sz="2400" b="1" dirty="0"/>
              <a:t>AI-based </a:t>
            </a:r>
            <a:r>
              <a:rPr lang="en-US" sz="2400" b="1" dirty="0" smtClean="0"/>
              <a:t>project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Goal is to transform one word into </a:t>
            </a:r>
            <a:r>
              <a:rPr lang="en-US" sz="2400" dirty="0" smtClean="0"/>
              <a:t>another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Only one letter can be changed at a </a:t>
            </a:r>
            <a:r>
              <a:rPr lang="en-US" sz="2400" dirty="0" smtClean="0"/>
              <a:t>time</a:t>
            </a:r>
          </a:p>
          <a:p>
            <a:pPr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Every word must be a valid English </a:t>
            </a:r>
            <a:r>
              <a:rPr lang="en-US" sz="2400" dirty="0" smtClean="0"/>
              <a:t>word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AI search algorithms are used to solve the problem</a:t>
            </a:r>
          </a:p>
          <a:p>
            <a:pPr algn="just"/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625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Problem Statement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93977"/>
            <a:ext cx="10058400" cy="383692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Finding a valid word transformation path is </a:t>
            </a:r>
            <a:r>
              <a:rPr lang="en-US" sz="2400" b="1" dirty="0"/>
              <a:t>difficult manually</a:t>
            </a:r>
            <a:endParaRPr lang="en-US" sz="2400" dirty="0"/>
          </a:p>
          <a:p>
            <a:r>
              <a:rPr lang="en-US" sz="2400" dirty="0"/>
              <a:t>Large dictionary increases complexity</a:t>
            </a:r>
          </a:p>
          <a:p>
            <a:r>
              <a:rPr lang="en-US" sz="2400" dirty="0"/>
              <a:t>Restrictions like banned words and limited moves make it harder</a:t>
            </a:r>
          </a:p>
          <a:p>
            <a:r>
              <a:rPr lang="en-US" sz="2400" b="1" dirty="0"/>
              <a:t>Main Challenges:</a:t>
            </a: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Validate words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Ensure one-letter change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Avoid repeated or invalid words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Find optimal solution efficiently</a:t>
            </a:r>
          </a:p>
          <a:p>
            <a:pPr algn="just"/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894" y="3881308"/>
            <a:ext cx="3867346" cy="165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47471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448" y="433832"/>
            <a:ext cx="9829800" cy="925068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Objectives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8400" y="1866900"/>
            <a:ext cx="9959848" cy="42799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endParaRPr lang="en-US" sz="2400" dirty="0" smtClean="0"/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Design </a:t>
            </a:r>
            <a:r>
              <a:rPr lang="en-US" sz="2400" dirty="0"/>
              <a:t>an interactive Word Ladder game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Apply AI search algorithms in real problem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Compare different algorithms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Provide Custom and AI gameplay modes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Visualize word transformations using graphs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pic>
        <p:nvPicPr>
          <p:cNvPr id="4" name="Google Shape;138;p16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3816" y="2141947"/>
            <a:ext cx="2672217" cy="2906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9842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596900"/>
            <a:ext cx="10058400" cy="7747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Problem Solution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841500"/>
            <a:ext cx="10053264" cy="45091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Word </a:t>
            </a:r>
            <a:r>
              <a:rPr lang="en-US" sz="2400" dirty="0"/>
              <a:t>Ladder is treated as a </a:t>
            </a:r>
            <a:r>
              <a:rPr lang="en-US" sz="2400" b="1" dirty="0"/>
              <a:t>state-space search problem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Each word = a state</a:t>
            </a:r>
          </a:p>
          <a:p>
            <a:pPr marL="0" indent="0">
              <a:buNone/>
            </a:pPr>
            <a:r>
              <a:rPr lang="en-US" sz="2400" dirty="0"/>
              <a:t>One-letter change = an action</a:t>
            </a:r>
          </a:p>
          <a:p>
            <a:pPr marL="0" indent="0">
              <a:buNone/>
            </a:pPr>
            <a:r>
              <a:rPr lang="en-US" sz="2400" dirty="0"/>
              <a:t>Target word = goal state</a:t>
            </a:r>
          </a:p>
          <a:p>
            <a:r>
              <a:rPr lang="en-US" sz="2400" b="1" dirty="0"/>
              <a:t>Solution Uses:</a:t>
            </a:r>
            <a:endParaRPr lang="en-US" sz="2400" dirty="0"/>
          </a:p>
          <a:p>
            <a:pPr>
              <a:buFont typeface="Wingdings" pitchFamily="2" charset="2"/>
              <a:buChar char="q"/>
            </a:pPr>
            <a:r>
              <a:rPr lang="en-US" sz="2400" dirty="0" err="1"/>
              <a:t>Datamuse</a:t>
            </a:r>
            <a:r>
              <a:rPr lang="en-US" sz="2400" dirty="0"/>
              <a:t> API for valid words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AI search algorithms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Constraints handling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Graph visualization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663" y="2921762"/>
            <a:ext cx="4080648" cy="226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3031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47700"/>
            <a:ext cx="10058400" cy="9017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Importance Of Project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500" y="2121408"/>
            <a:ext cx="9921748" cy="380949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b="1" dirty="0" smtClean="0"/>
              <a:t> </a:t>
            </a:r>
            <a:r>
              <a:rPr lang="en-US" sz="2400" dirty="0" smtClean="0"/>
              <a:t>Helps </a:t>
            </a:r>
            <a:r>
              <a:rPr lang="en-US" sz="2400" dirty="0"/>
              <a:t>understand AI search algorithms practically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Shows real-world API usage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Demonstrates algorithm efficiency and optimization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Makes learning interactive and </a:t>
            </a:r>
            <a:r>
              <a:rPr lang="en-US" sz="2400" dirty="0" smtClean="0"/>
              <a:t>visual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907" y="3672668"/>
            <a:ext cx="3079903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394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 </a:t>
            </a:r>
            <a:r>
              <a:rPr lang="en-US" b="1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2121408"/>
            <a:ext cx="9909048" cy="3872992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smtClean="0"/>
              <a:t>Steps </a:t>
            </a:r>
            <a:r>
              <a:rPr lang="en-US" sz="2400" dirty="0"/>
              <a:t>followed in the project: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Data Collection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Word Validation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Transition Validation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Neighbor Generation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AI Algorithms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Game Modes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Difficulty Levels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Visualization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377" y="2499075"/>
            <a:ext cx="4322590" cy="309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40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Data Collection &amp; </a:t>
            </a:r>
            <a:r>
              <a:rPr lang="en-US" b="1" dirty="0" smtClean="0"/>
              <a:t>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500" y="2121408"/>
            <a:ext cx="9921748" cy="369519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Data </a:t>
            </a:r>
            <a:r>
              <a:rPr lang="en-US" sz="2400" b="1" dirty="0"/>
              <a:t>Collection: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dirty="0" err="1"/>
              <a:t>Datamuse</a:t>
            </a:r>
            <a:r>
              <a:rPr lang="en-US" sz="2400" dirty="0"/>
              <a:t> API fetches valid English words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Words are stored in uppercase</a:t>
            </a:r>
          </a:p>
          <a:p>
            <a:r>
              <a:rPr lang="en-US" sz="2400" b="1" dirty="0"/>
              <a:t>Word Validation: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Each word is checked using API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Invalid words are rejected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622" y="2577227"/>
            <a:ext cx="3251911" cy="238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7594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/>
            <a:r>
              <a:rPr lang="en-US" b="1" dirty="0"/>
              <a:t>Transition </a:t>
            </a:r>
            <a:r>
              <a:rPr lang="en-US" b="1" dirty="0" smtClean="0"/>
              <a:t>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A </a:t>
            </a:r>
            <a:r>
              <a:rPr lang="en-US" sz="2400" dirty="0"/>
              <a:t>word transition is valid only if: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Word length remains same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Exactly </a:t>
            </a:r>
            <a:r>
              <a:rPr lang="en-US" sz="2400" b="1" dirty="0"/>
              <a:t>one letter changes</a:t>
            </a: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Restricted letters are avoided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Banned words are not allowed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This ensures fair gameplay.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840" y="2319466"/>
            <a:ext cx="3422602" cy="227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354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Neighbor </a:t>
            </a:r>
            <a:r>
              <a:rPr lang="en-US" b="1" dirty="0" smtClean="0"/>
              <a:t>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All possible next words are generated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One letter is changed at each position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Only dictionary-valid words are selected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These words are used by AI algorithms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368" y="2243268"/>
            <a:ext cx="2792131" cy="218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130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AI Search Algorithms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>
              <a:buFont typeface="Wingdings" pitchFamily="2" charset="2"/>
              <a:buChar char="q"/>
            </a:pPr>
            <a:r>
              <a:rPr lang="en-US" sz="2400" b="1" dirty="0"/>
              <a:t>BFS:</a:t>
            </a:r>
            <a:r>
              <a:rPr lang="en-US" sz="2400" dirty="0"/>
              <a:t> Finds shortest path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/>
              <a:t>DFS:</a:t>
            </a:r>
            <a:r>
              <a:rPr lang="en-US" sz="2400" dirty="0"/>
              <a:t> Explores deeply, may not be optimal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/>
              <a:t>UCS:</a:t>
            </a:r>
            <a:r>
              <a:rPr lang="en-US" sz="2400" dirty="0"/>
              <a:t> Uses uniform cost for best path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/>
              <a:t>GBFS:</a:t>
            </a:r>
            <a:r>
              <a:rPr lang="en-US" sz="2400" dirty="0"/>
              <a:t> Uses heuristic for fast decisions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/>
              <a:t>A*:</a:t>
            </a:r>
            <a:r>
              <a:rPr lang="en-US" sz="2400" dirty="0"/>
              <a:t> Best performance using cost + heuristic</a:t>
            </a:r>
          </a:p>
          <a:p>
            <a:endParaRPr lang="en-US" dirty="0"/>
          </a:p>
        </p:txBody>
      </p:sp>
      <p:pic>
        <p:nvPicPr>
          <p:cNvPr id="4" name="Google Shape;118;p15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5927" y="2328105"/>
            <a:ext cx="2367421" cy="26304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7827127" y="2328105"/>
            <a:ext cx="1669240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Algorithms: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BFS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DFS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UCS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GBFS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A*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61110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Game </a:t>
            </a:r>
            <a:r>
              <a:rPr lang="en-US" b="1" dirty="0" smtClean="0"/>
              <a:t>Modes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sz="2400" b="1" dirty="0" smtClean="0"/>
              <a:t>Custom </a:t>
            </a:r>
            <a:r>
              <a:rPr lang="en-US" sz="2400" b="1" dirty="0"/>
              <a:t>Mode: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User plays manually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No hints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Every move is validated</a:t>
            </a:r>
          </a:p>
          <a:p>
            <a:r>
              <a:rPr lang="en-US" sz="2400" b="1" dirty="0"/>
              <a:t>AI Mode: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User selects AI algorithm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AI finds solution path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User can ask for hints</a:t>
            </a:r>
          </a:p>
          <a:p>
            <a:endParaRPr lang="en-US" dirty="0"/>
          </a:p>
        </p:txBody>
      </p:sp>
      <p:pic>
        <p:nvPicPr>
          <p:cNvPr id="6" name="Google Shape;219;p21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73409" y="2554947"/>
            <a:ext cx="4159939" cy="96542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/>
        </p:nvSpPr>
        <p:spPr>
          <a:xfrm>
            <a:off x="6725827" y="2852992"/>
            <a:ext cx="245510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Custom </a:t>
            </a:r>
            <a:r>
              <a:rPr lang="en-US" b="1" dirty="0" smtClean="0"/>
              <a:t>Mode</a:t>
            </a:r>
            <a:endParaRPr lang="en-US" dirty="0"/>
          </a:p>
        </p:txBody>
      </p:sp>
      <p:pic>
        <p:nvPicPr>
          <p:cNvPr id="10" name="Google Shape;219;p21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73407" y="4709495"/>
            <a:ext cx="4159939" cy="96542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/>
          <p:cNvSpPr/>
          <p:nvPr/>
        </p:nvSpPr>
        <p:spPr>
          <a:xfrm>
            <a:off x="6725827" y="5007540"/>
            <a:ext cx="245510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 smtClean="0"/>
              <a:t>Ai Mode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948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Difficulty </a:t>
            </a:r>
            <a:r>
              <a:rPr lang="en-US" b="1" dirty="0" smtClean="0"/>
              <a:t>Levels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2265949"/>
              </p:ext>
            </p:extLst>
          </p:nvPr>
        </p:nvGraphicFramePr>
        <p:xfrm>
          <a:off x="1039659" y="2192053"/>
          <a:ext cx="10115704" cy="239709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528926"/>
                <a:gridCol w="2528926"/>
                <a:gridCol w="2528926"/>
                <a:gridCol w="2528926"/>
              </a:tblGrid>
              <a:tr h="599273"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Word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Restrictions</a:t>
                      </a:r>
                    </a:p>
                  </a:txBody>
                  <a:tcPr anchor="ctr"/>
                </a:tc>
              </a:tr>
              <a:tr h="599273">
                <a:tc>
                  <a:txBody>
                    <a:bodyPr/>
                    <a:lstStyle/>
                    <a:p>
                      <a:r>
                        <a:rPr lang="en-US" dirty="0"/>
                        <a:t>Beginner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</a:tr>
              <a:tr h="599273">
                <a:tc>
                  <a:txBody>
                    <a:bodyPr/>
                    <a:lstStyle/>
                    <a:p>
                      <a:r>
                        <a:rPr lang="en-US" dirty="0"/>
                        <a:t>Advanced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</a:tr>
              <a:tr h="599273">
                <a:tc>
                  <a:txBody>
                    <a:bodyPr/>
                    <a:lstStyle/>
                    <a:p>
                      <a:r>
                        <a:rPr lang="en-US" dirty="0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Banned &amp; Restricted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68006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</a:t>
            </a:r>
            <a:r>
              <a:rPr lang="en-US" b="1" dirty="0" smtClean="0"/>
              <a:t>Work &amp;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sz="2400" dirty="0"/>
              <a:t>Performance optimization</a:t>
            </a:r>
          </a:p>
          <a:p>
            <a:pPr marL="0" indent="0">
              <a:buNone/>
            </a:pPr>
            <a:r>
              <a:rPr lang="en-US" sz="2400" dirty="0" smtClean="0"/>
              <a:t> Better </a:t>
            </a:r>
            <a:r>
              <a:rPr lang="en-US" sz="2400" dirty="0"/>
              <a:t>heuristic functions</a:t>
            </a:r>
          </a:p>
          <a:p>
            <a:r>
              <a:rPr lang="en-US" sz="2400" dirty="0"/>
              <a:t>Mobile and web version</a:t>
            </a:r>
          </a:p>
          <a:p>
            <a:r>
              <a:rPr lang="en-US" sz="2400" dirty="0"/>
              <a:t>Support for multiple languages</a:t>
            </a:r>
          </a:p>
          <a:p>
            <a:r>
              <a:rPr lang="en-US" sz="2400" dirty="0"/>
              <a:t>Performance optimization</a:t>
            </a:r>
          </a:p>
          <a:p>
            <a:r>
              <a:rPr lang="en-US" sz="2400" b="1" dirty="0" smtClean="0"/>
              <a:t>Conclusion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Project </a:t>
            </a:r>
            <a:r>
              <a:rPr lang="en-US" sz="2400" dirty="0"/>
              <a:t>successfully applies AI algorithms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 Combines </a:t>
            </a:r>
            <a:r>
              <a:rPr lang="en-US" sz="2400" dirty="0"/>
              <a:t>gameplay, AI, and visualization</a:t>
            </a:r>
          </a:p>
          <a:p>
            <a:endParaRPr lang="en-US" sz="2400" dirty="0"/>
          </a:p>
          <a:p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888" y="2265841"/>
            <a:ext cx="3558731" cy="251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13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4400" b="1" dirty="0" smtClean="0"/>
          </a:p>
          <a:p>
            <a:pPr marL="0" indent="0" algn="ctr">
              <a:buNone/>
            </a:pPr>
            <a:r>
              <a:rPr lang="en-US" sz="4800" b="1" dirty="0" smtClean="0"/>
              <a:t>Thank You!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618564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4073B92D5A934593003895C4429EFE" ma:contentTypeVersion="" ma:contentTypeDescription="Create a new document." ma:contentTypeScope="" ma:versionID="8f53a06438000cba100334444fe64dc5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53aad9280c7bc17f35f657eabd183f16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B97E78-4C78-4E1C-8F7F-A87E7F92C4C8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0DEDBAF-0F98-4053-AD0C-C6472D6D77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0357F4-19DA-4F44-8585-DD5E9DC6CA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</TotalTime>
  <Words>486</Words>
  <Application>Microsoft Office PowerPoint</Application>
  <PresentationFormat>Custom</PresentationFormat>
  <Paragraphs>141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Retrospect</vt:lpstr>
      <vt:lpstr>Word Ladder Adventure Game using Artificial Intelligence</vt:lpstr>
      <vt:lpstr>Outline</vt:lpstr>
      <vt:lpstr>Introduction</vt:lpstr>
      <vt:lpstr>Problem Statement</vt:lpstr>
      <vt:lpstr>Objectives</vt:lpstr>
      <vt:lpstr>Problem Solution</vt:lpstr>
      <vt:lpstr>Importance Of Project</vt:lpstr>
      <vt:lpstr>Methodology Overview</vt:lpstr>
      <vt:lpstr>Data Collection &amp; Validation</vt:lpstr>
      <vt:lpstr>Transition Rules</vt:lpstr>
      <vt:lpstr>Neighbor Generation</vt:lpstr>
      <vt:lpstr>AI Search Algorithms </vt:lpstr>
      <vt:lpstr>Game Modes</vt:lpstr>
      <vt:lpstr>Difficulty Levels</vt:lpstr>
      <vt:lpstr>Future Work &amp; 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Nuoreen</cp:lastModifiedBy>
  <cp:revision>57</cp:revision>
  <dcterms:created xsi:type="dcterms:W3CDTF">2020-10-15T10:49:46Z</dcterms:created>
  <dcterms:modified xsi:type="dcterms:W3CDTF">2025-12-23T08:02:14Z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0x010100154073B92D5A934593003895C4429EFE</vt:lpwstr>
  </property>
</Properties>
</file>